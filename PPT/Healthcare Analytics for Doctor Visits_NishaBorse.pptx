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0" r:id="rId11"/>
    <p:sldId id="341" r:id="rId12"/>
    <p:sldId id="342" r:id="rId13"/>
    <p:sldId id="343"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47" d="100"/>
          <a:sy n="47" d="100"/>
        </p:scale>
        <p:origin x="53" y="91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19721" y="3712439"/>
            <a:ext cx="8791622" cy="861497"/>
          </a:xfrm>
        </p:spPr>
        <p:txBody>
          <a:bodyPr>
            <a:normAutofit fontScale="70000" lnSpcReduction="20000"/>
          </a:bodyPr>
          <a:lstStyle/>
          <a:p>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Student Name :-</a:t>
            </a:r>
            <a:r>
              <a:rPr lang="en-US" sz="2400" b="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sz="2400" dirty="0" err="1">
                <a:latin typeface="Calibri" panose="020F0502020204030204" pitchFamily="34" charset="0"/>
                <a:ea typeface="Calibri" panose="020F0502020204030204" pitchFamily="34" charset="0"/>
                <a:cs typeface="Calibri" panose="020F0502020204030204" pitchFamily="34" charset="0"/>
              </a:rPr>
              <a:t>Nisha</a:t>
            </a:r>
            <a:r>
              <a:rPr lang="en-IN" sz="2400" dirty="0">
                <a:latin typeface="Calibri" panose="020F0502020204030204" pitchFamily="34" charset="0"/>
                <a:ea typeface="Calibri" panose="020F0502020204030204" pitchFamily="34" charset="0"/>
                <a:cs typeface="Calibri" panose="020F0502020204030204" pitchFamily="34" charset="0"/>
              </a:rPr>
              <a:t> </a:t>
            </a:r>
            <a:r>
              <a:rPr lang="en-IN" sz="2400" dirty="0" err="1">
                <a:latin typeface="Calibri" panose="020F0502020204030204" pitchFamily="34" charset="0"/>
                <a:ea typeface="Calibri" panose="020F0502020204030204" pitchFamily="34" charset="0"/>
                <a:cs typeface="Calibri" panose="020F0502020204030204" pitchFamily="34" charset="0"/>
              </a:rPr>
              <a:t>Kishorji</a:t>
            </a:r>
            <a:r>
              <a:rPr lang="en-IN" sz="2400" dirty="0">
                <a:latin typeface="Calibri" panose="020F0502020204030204" pitchFamily="34" charset="0"/>
                <a:ea typeface="Calibri" panose="020F0502020204030204" pitchFamily="34" charset="0"/>
                <a:cs typeface="Calibri" panose="020F0502020204030204" pitchFamily="34" charset="0"/>
              </a:rPr>
              <a:t> </a:t>
            </a:r>
            <a:r>
              <a:rPr lang="en-IN" sz="2400" dirty="0" err="1" smtClean="0">
                <a:latin typeface="Calibri" panose="020F0502020204030204" pitchFamily="34" charset="0"/>
                <a:ea typeface="Calibri" panose="020F0502020204030204" pitchFamily="34" charset="0"/>
                <a:cs typeface="Calibri" panose="020F0502020204030204" pitchFamily="34" charset="0"/>
              </a:rPr>
              <a:t>Borse</a:t>
            </a:r>
            <a:endParaRPr lang="en-IN" sz="2400" dirty="0" smtClean="0">
              <a:latin typeface="Calibri" panose="020F0502020204030204" pitchFamily="34" charset="0"/>
              <a:ea typeface="Calibri" panose="020F0502020204030204" pitchFamily="34" charset="0"/>
              <a:cs typeface="Calibri" panose="020F0502020204030204" pitchFamily="34" charset="0"/>
            </a:endParaRPr>
          </a:p>
          <a:p>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College Name :- </a:t>
            </a:r>
            <a:r>
              <a:rPr lang="en-US" sz="2400" b="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R.C.P.E.T's Institute of Management Research and 			       			</a:t>
            </a:r>
            <a:r>
              <a:rPr lang="en-US" sz="2400" dirty="0" smtClean="0">
                <a:latin typeface="Calibri" panose="020F0502020204030204" pitchFamily="34" charset="0"/>
                <a:ea typeface="Calibri" panose="020F0502020204030204" pitchFamily="34" charset="0"/>
                <a:cs typeface="Calibri" panose="020F0502020204030204" pitchFamily="34" charset="0"/>
              </a:rPr>
              <a:t>			Development</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Shirpur</a:t>
            </a:r>
            <a:endParaRPr lang="en-IN" sz="2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19721" y="2794001"/>
            <a:ext cx="11191922" cy="743448"/>
          </a:xfrm>
        </p:spPr>
        <p:txBody>
          <a:bodyPr>
            <a:normAutofit fontScale="90000"/>
          </a:bodyPr>
          <a:lstStyle/>
          <a:p>
            <a:r>
              <a:rPr lang="en-GB" sz="3200" dirty="0" smtClean="0"/>
              <a:t>Project Title – </a:t>
            </a:r>
            <a:r>
              <a:rPr lang="en-GB" sz="3600" b="1" dirty="0" smtClean="0"/>
              <a:t>Healthcare Analytics For Doctor Visit TIRTC</a:t>
            </a:r>
            <a:endParaRPr lang="en-IN" sz="36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Box 6">
            <a:extLst>
              <a:ext uri="{FF2B5EF4-FFF2-40B4-BE49-F238E27FC236}">
                <a16:creationId xmlns:a16="http://schemas.microsoft.com/office/drawing/2014/main" id="{17F04107-8754-E47D-3375-529E689711FA}"/>
              </a:ext>
            </a:extLst>
          </p:cNvPr>
          <p:cNvSpPr txBox="1"/>
          <p:nvPr/>
        </p:nvSpPr>
        <p:spPr>
          <a:xfrm>
            <a:off x="319721" y="4748926"/>
            <a:ext cx="8087684" cy="369332"/>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AICTE STU ID </a:t>
            </a:r>
            <a:r>
              <a:rPr lang="en-US" b="1" dirty="0" smtClean="0">
                <a:latin typeface="Calibri" panose="020F0502020204030204" pitchFamily="34" charset="0"/>
                <a:ea typeface="Calibri" panose="020F0502020204030204" pitchFamily="34" charset="0"/>
                <a:cs typeface="Calibri" panose="020F0502020204030204" pitchFamily="34" charset="0"/>
              </a:rPr>
              <a:t>:- </a:t>
            </a:r>
            <a:r>
              <a:rPr lang="en-IN" dirty="0">
                <a:latin typeface="Calibri" panose="020F0502020204030204" pitchFamily="34" charset="0"/>
                <a:ea typeface="Calibri" panose="020F0502020204030204" pitchFamily="34" charset="0"/>
                <a:cs typeface="Calibri" panose="020F0502020204030204" pitchFamily="34" charset="0"/>
              </a:rPr>
              <a:t>STU67650ae7b49901734675175</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377145" y="140909"/>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rot="20956931">
            <a:off x="8322255" y="2604262"/>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Rectangle 1"/>
          <p:cNvSpPr>
            <a:spLocks noGrp="1" noChangeArrowheads="1"/>
          </p:cNvSpPr>
          <p:nvPr>
            <p:ph type="body" sz="quarter" idx="12"/>
          </p:nvPr>
        </p:nvSpPr>
        <p:spPr bwMode="auto">
          <a:xfrm>
            <a:off x="377145" y="1062942"/>
            <a:ext cx="835864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Healthcare organizations generate large amounts of patient data related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to doctor visits, health conditions, income levels, age groups, and medical histories.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However, identifying the factors that influence hospital visits and healthcare utilization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can be challenging without proper data analysis.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project aims to analyze patient healthcare records to understand how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demographic, economic, and health-related factors affect the frequency of doctor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visits. By examining variables such as age, gender, income, illness severity, reduced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activity days, and chronic health conditions, the project seeks to uncover meaningful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patterns and insights that can support better healthcare planning, resource allocation,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and patient care decisions.</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95943" y="121163"/>
            <a:ext cx="6276109" cy="770374"/>
          </a:xfrm>
        </p:spPr>
        <p:txBody>
          <a:bodyPr>
            <a:normAutofit/>
          </a:bodyPr>
          <a:lstStyle/>
          <a:p>
            <a:r>
              <a:rPr lang="en-GB" sz="4000" dirty="0" smtClean="0"/>
              <a:t>Project Description</a:t>
            </a:r>
            <a:endParaRPr lang="en-IN" sz="4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p:cNvSpPr>
            <a:spLocks noChangeArrowheads="1"/>
          </p:cNvSpPr>
          <p:nvPr/>
        </p:nvSpPr>
        <p:spPr bwMode="auto">
          <a:xfrm>
            <a:off x="195943" y="891537"/>
            <a:ext cx="1041762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Healthcare Analytics for Doctor Visits project focuses on analyzing patient</a:t>
            </a:r>
            <a:r>
              <a:rPr kumimoji="0" lang="en-US" altLang="en-US" sz="2000" b="0" i="0" u="none" strike="noStrike" cap="none" normalizeH="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healthcare data to understand the factors that influence the frequency of doctor consultations and healthcare service utilization.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Healthcare providers often collect large volumes of patient information, including demographic details, income levels, health conditions, illness severity,</a:t>
            </a:r>
            <a:r>
              <a:rPr kumimoji="0" lang="en-US" altLang="en-US" sz="2000" b="0" i="0" u="none" strike="noStrike" cap="none" normalizeH="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and medical histories.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Transforming this data into meaningful insights can help healthcare organizations improve decision-making and patient care.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 this project, data analysis techniques were applied to examine relationships</a:t>
            </a:r>
            <a:r>
              <a:rPr kumimoji="0" lang="en-US" altLang="en-US" sz="2000" b="0" i="0" u="none" strike="noStrike" cap="none" normalizeH="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between patient characteristics and doctor visit patterns.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dataset was cleaned, processed, and analyzed using Python libraries such as Pandas, </a:t>
            </a:r>
            <a:r>
              <a:rPr kumimoji="0" lang="en-US" altLang="en-US" sz="2000" b="0"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NumPy</a:t>
            </a: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000" b="0"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Matplotlib</a:t>
            </a: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2000" b="0"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Seaborn</a:t>
            </a: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Exploratory Data Analysis (EDA) was performed to identify trends, distributions, correlations, and key factors affecting healthcare utilization.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analysis provides insights into how variables such as age, gender, income, illness severity, reduced activity days, and chronic health conditions impact the number of doctor visits.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These findings can assist healthcare professionals, hospitals, and policymakers in improving resource allocation, enhancing patient care strategies, and making data-driven healthcare decisions.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80512" y="99377"/>
            <a:ext cx="9017768" cy="802641"/>
          </a:xfrm>
        </p:spPr>
        <p:txBody>
          <a:bodyPr>
            <a:normAutofit/>
          </a:bodyPr>
          <a:lstStyle/>
          <a:p>
            <a:r>
              <a:rPr lang="en-US" sz="2500" dirty="0"/>
              <a:t>WHO ARE THE END USERS?</a:t>
            </a:r>
            <a:endParaRPr lang="en-IN" sz="25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p:cNvSpPr>
            <a:spLocks noGrp="1" noChangeArrowheads="1"/>
          </p:cNvSpPr>
          <p:nvPr>
            <p:ph type="body" sz="quarter" idx="12"/>
          </p:nvPr>
        </p:nvSpPr>
        <p:spPr bwMode="auto">
          <a:xfrm>
            <a:off x="385211" y="685143"/>
            <a:ext cx="967319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primary end users of this healthcare analytics solution 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Healthcare Administrators</a:t>
            </a:r>
            <a:r>
              <a:rPr kumimoji="0" lang="en-US" altLang="en-US" sz="1800" b="0" i="0" u="none" strike="noStrike" cap="none" normalizeH="0" baseline="0" dirty="0" smtClean="0">
                <a:ln>
                  <a:noFill/>
                </a:ln>
                <a:solidFill>
                  <a:schemeClr val="tx1"/>
                </a:solidFill>
                <a:effectLst/>
                <a:latin typeface="Arial" panose="020B0604020202020204" pitchFamily="34" charset="0"/>
              </a:rPr>
              <a:t> – To monitor patient visit trends, optimize resource allocation, and improve operational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Hospital Management Teams</a:t>
            </a:r>
            <a:r>
              <a:rPr kumimoji="0" lang="en-US" altLang="en-US" sz="1800" b="0" i="0" u="none" strike="noStrike" cap="none" normalizeH="0" baseline="0" dirty="0" smtClean="0">
                <a:ln>
                  <a:noFill/>
                </a:ln>
                <a:solidFill>
                  <a:schemeClr val="tx1"/>
                </a:solidFill>
                <a:effectLst/>
                <a:latin typeface="Arial" panose="020B0604020202020204" pitchFamily="34" charset="0"/>
              </a:rPr>
              <a:t> – To make data-driven decisions regarding staffing, scheduling, and healthcare service planning.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Doctors and Medical Professionals</a:t>
            </a:r>
            <a:r>
              <a:rPr kumimoji="0" lang="en-US" altLang="en-US" sz="1800" b="0" i="0" u="none" strike="noStrike" cap="none" normalizeH="0" baseline="0" dirty="0" smtClean="0">
                <a:ln>
                  <a:noFill/>
                </a:ln>
                <a:solidFill>
                  <a:schemeClr val="tx1"/>
                </a:solidFill>
                <a:effectLst/>
                <a:latin typeface="Arial" panose="020B0604020202020204" pitchFamily="34" charset="0"/>
              </a:rPr>
              <a:t> – To understand patient healthcare patterns and identify factors influencing doctor visits.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Healthcare Analysts and Researchers</a:t>
            </a:r>
            <a:r>
              <a:rPr kumimoji="0" lang="en-US" altLang="en-US" sz="1800" b="0" i="0" u="none" strike="noStrike" cap="none" normalizeH="0" baseline="0" dirty="0" smtClean="0">
                <a:ln>
                  <a:noFill/>
                </a:ln>
                <a:solidFill>
                  <a:schemeClr val="tx1"/>
                </a:solidFill>
                <a:effectLst/>
                <a:latin typeface="Arial" panose="020B0604020202020204" pitchFamily="34" charset="0"/>
              </a:rPr>
              <a:t> – To analyze patient data, discover trends, and support healthcare research initiatives.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Government Health Departments and Policymakers</a:t>
            </a:r>
            <a:r>
              <a:rPr kumimoji="0" lang="en-US" altLang="en-US" sz="1800" b="0" i="0" u="none" strike="noStrike" cap="none" normalizeH="0" baseline="0" dirty="0" smtClean="0">
                <a:ln>
                  <a:noFill/>
                </a:ln>
                <a:solidFill>
                  <a:schemeClr val="tx1"/>
                </a:solidFill>
                <a:effectLst/>
                <a:latin typeface="Arial" panose="020B0604020202020204" pitchFamily="34" charset="0"/>
              </a:rPr>
              <a:t> – To evaluate healthcare utilization patterns and develop effective public health policies.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Insurance Companies</a:t>
            </a:r>
            <a:r>
              <a:rPr kumimoji="0" lang="en-US" altLang="en-US" sz="1800" b="0" i="0" u="none" strike="noStrike" cap="none" normalizeH="0" baseline="0" dirty="0" smtClean="0">
                <a:ln>
                  <a:noFill/>
                </a:ln>
                <a:solidFill>
                  <a:schemeClr val="tx1"/>
                </a:solidFill>
                <a:effectLst/>
                <a:latin typeface="Arial" panose="020B0604020202020204" pitchFamily="34" charset="0"/>
              </a:rPr>
              <a:t> – To assess healthcare usage trends and support risk assessment and policy planning.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These users can leverage the insights generated from the analysis to improve healthcare services, enhance patient outcomes, and make informed strategic decisions.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0531352"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1653" y="694006"/>
            <a:ext cx="10485467" cy="1715086"/>
          </a:xfrm>
        </p:spPr>
        <p:txBody>
          <a:bodyPr/>
          <a:lstStyle/>
          <a:p>
            <a:pPr marL="457200" lvl="1" indent="0">
              <a:lnSpc>
                <a:spcPct val="150000"/>
              </a:lnSpc>
              <a:buNone/>
            </a:pPr>
            <a:r>
              <a:rPr lang="en-IN" dirty="0">
                <a:latin typeface="Calibri" panose="020F0502020204030204" pitchFamily="34" charset="0"/>
                <a:ea typeface="Calibri" panose="020F0502020204030204" pitchFamily="34" charset="0"/>
                <a:cs typeface="Calibri" panose="020F0502020204030204" pitchFamily="34" charset="0"/>
              </a:rPr>
              <a:t>The VOIS program specifically describes Python data analytics skills including Pandas, data cleaning/transformation, EDA, descriptive statistics and </a:t>
            </a:r>
            <a:r>
              <a:rPr lang="en-IN" dirty="0" err="1">
                <a:latin typeface="Calibri" panose="020F0502020204030204" pitchFamily="34" charset="0"/>
                <a:ea typeface="Calibri" panose="020F0502020204030204" pitchFamily="34" charset="0"/>
                <a:cs typeface="Calibri" panose="020F0502020204030204" pitchFamily="34" charset="0"/>
              </a:rPr>
              <a:t>Matplotlib</a:t>
            </a:r>
            <a:r>
              <a:rPr lang="en-IN" dirty="0">
                <a:latin typeface="Calibri" panose="020F0502020204030204" pitchFamily="34" charset="0"/>
                <a:ea typeface="Calibri" panose="020F0502020204030204" pitchFamily="34" charset="0"/>
                <a:cs typeface="Calibri" panose="020F0502020204030204" pitchFamily="34" charset="0"/>
              </a:rPr>
              <a:t> visualization.</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41653" y="170705"/>
            <a:ext cx="5306291" cy="589341"/>
          </a:xfrm>
        </p:spPr>
        <p:txBody>
          <a:bodyPr>
            <a:normAutofit/>
          </a:bodyPr>
          <a:lstStyle/>
          <a:p>
            <a:r>
              <a:rPr lang="en-US" sz="2500" dirty="0" smtClean="0"/>
              <a:t>Technology Used</a:t>
            </a:r>
            <a:endParaRPr lang="en-US" sz="2500" dirty="0"/>
          </a:p>
        </p:txBody>
      </p:sp>
      <p:graphicFrame>
        <p:nvGraphicFramePr>
          <p:cNvPr id="8" name="Table 7"/>
          <p:cNvGraphicFramePr>
            <a:graphicFrameLocks noGrp="1"/>
          </p:cNvGraphicFramePr>
          <p:nvPr>
            <p:extLst>
              <p:ext uri="{D42A27DB-BD31-4B8C-83A1-F6EECF244321}">
                <p14:modId xmlns:p14="http://schemas.microsoft.com/office/powerpoint/2010/main" val="2815768417"/>
              </p:ext>
            </p:extLst>
          </p:nvPr>
        </p:nvGraphicFramePr>
        <p:xfrm>
          <a:off x="6657655" y="1866893"/>
          <a:ext cx="4325643" cy="4473912"/>
        </p:xfrm>
        <a:graphic>
          <a:graphicData uri="http://schemas.openxmlformats.org/drawingml/2006/table">
            <a:tbl>
              <a:tblPr/>
              <a:tblGrid>
                <a:gridCol w="2163472">
                  <a:extLst>
                    <a:ext uri="{9D8B030D-6E8A-4147-A177-3AD203B41FA5}">
                      <a16:colId xmlns:a16="http://schemas.microsoft.com/office/drawing/2014/main" val="3028258802"/>
                    </a:ext>
                  </a:extLst>
                </a:gridCol>
                <a:gridCol w="2162171">
                  <a:extLst>
                    <a:ext uri="{9D8B030D-6E8A-4147-A177-3AD203B41FA5}">
                      <a16:colId xmlns:a16="http://schemas.microsoft.com/office/drawing/2014/main" val="3964992532"/>
                    </a:ext>
                  </a:extLst>
                </a:gridCol>
              </a:tblGrid>
              <a:tr h="443976">
                <a:tc>
                  <a:txBody>
                    <a:bodyPr/>
                    <a:lstStyle/>
                    <a:p>
                      <a:pPr algn="l"/>
                      <a:r>
                        <a:rPr lang="en-IN" sz="2000" b="1" dirty="0">
                          <a:latin typeface="Calibri" panose="020F0502020204030204" pitchFamily="34" charset="0"/>
                          <a:ea typeface="Calibri" panose="020F0502020204030204" pitchFamily="34" charset="0"/>
                          <a:cs typeface="Calibri" panose="020F0502020204030204" pitchFamily="34" charset="0"/>
                        </a:rPr>
                        <a:t>Technology</a:t>
                      </a:r>
                    </a:p>
                  </a:txBody>
                  <a:tcPr anchor="ctr">
                    <a:lnL>
                      <a:noFill/>
                    </a:lnL>
                    <a:lnR>
                      <a:noFill/>
                    </a:lnR>
                    <a:lnT>
                      <a:noFill/>
                    </a:lnT>
                    <a:lnB>
                      <a:noFill/>
                    </a:lnB>
                  </a:tcPr>
                </a:tc>
                <a:tc>
                  <a:txBody>
                    <a:bodyPr/>
                    <a:lstStyle/>
                    <a:p>
                      <a:pPr algn="l"/>
                      <a:r>
                        <a:rPr lang="en-IN" sz="2000" b="1" dirty="0">
                          <a:latin typeface="Calibri" panose="020F0502020204030204" pitchFamily="34" charset="0"/>
                          <a:ea typeface="Calibri" panose="020F0502020204030204" pitchFamily="34" charset="0"/>
                          <a:cs typeface="Calibri" panose="020F0502020204030204" pitchFamily="34" charset="0"/>
                        </a:rPr>
                        <a:t>Purpose</a:t>
                      </a:r>
                    </a:p>
                  </a:txBody>
                  <a:tcPr anchor="ctr">
                    <a:lnL>
                      <a:noFill/>
                    </a:lnL>
                    <a:lnR>
                      <a:noFill/>
                    </a:lnR>
                    <a:lnT>
                      <a:noFill/>
                    </a:lnT>
                    <a:lnB>
                      <a:noFill/>
                    </a:lnB>
                  </a:tcPr>
                </a:tc>
                <a:extLst>
                  <a:ext uri="{0D108BD9-81ED-4DB2-BD59-A6C34878D82A}">
                    <a16:rowId xmlns:a16="http://schemas.microsoft.com/office/drawing/2014/main" val="1092633834"/>
                  </a:ext>
                </a:extLst>
              </a:tr>
              <a:tr h="443976">
                <a:tc>
                  <a:txBody>
                    <a:bodyPr/>
                    <a:lstStyle/>
                    <a:p>
                      <a:pPr algn="l"/>
                      <a:r>
                        <a:rPr lang="en-IN" sz="2000" b="1" dirty="0">
                          <a:latin typeface="Calibri" panose="020F0502020204030204" pitchFamily="34" charset="0"/>
                          <a:ea typeface="Calibri" panose="020F0502020204030204" pitchFamily="34" charset="0"/>
                          <a:cs typeface="Calibri" panose="020F0502020204030204" pitchFamily="34" charset="0"/>
                        </a:rPr>
                        <a:t>Python</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l"/>
                      <a:r>
                        <a:rPr lang="en-IN" sz="2000" dirty="0">
                          <a:latin typeface="Calibri" panose="020F0502020204030204" pitchFamily="34" charset="0"/>
                          <a:ea typeface="Calibri" panose="020F0502020204030204" pitchFamily="34" charset="0"/>
                          <a:cs typeface="Calibri" panose="020F0502020204030204" pitchFamily="34" charset="0"/>
                        </a:rPr>
                        <a:t>Data analysis</a:t>
                      </a:r>
                    </a:p>
                  </a:txBody>
                  <a:tcPr anchor="ctr">
                    <a:lnL>
                      <a:noFill/>
                    </a:lnL>
                    <a:lnR>
                      <a:noFill/>
                    </a:lnR>
                    <a:lnT>
                      <a:noFill/>
                    </a:lnT>
                    <a:lnB>
                      <a:noFill/>
                    </a:lnB>
                  </a:tcPr>
                </a:tc>
                <a:extLst>
                  <a:ext uri="{0D108BD9-81ED-4DB2-BD59-A6C34878D82A}">
                    <a16:rowId xmlns:a16="http://schemas.microsoft.com/office/drawing/2014/main" val="858245950"/>
                  </a:ext>
                </a:extLst>
              </a:tr>
              <a:tr h="785496">
                <a:tc>
                  <a:txBody>
                    <a:bodyPr/>
                    <a:lstStyle/>
                    <a:p>
                      <a:pPr algn="l"/>
                      <a:r>
                        <a:rPr lang="en-IN" sz="2000" b="1" dirty="0">
                          <a:latin typeface="Calibri" panose="020F0502020204030204" pitchFamily="34" charset="0"/>
                          <a:ea typeface="Calibri" panose="020F0502020204030204" pitchFamily="34" charset="0"/>
                          <a:cs typeface="Calibri" panose="020F0502020204030204" pitchFamily="34" charset="0"/>
                        </a:rPr>
                        <a:t>Google </a:t>
                      </a:r>
                      <a:r>
                        <a:rPr lang="en-IN" sz="2000" b="1" dirty="0" err="1">
                          <a:latin typeface="Calibri" panose="020F0502020204030204" pitchFamily="34" charset="0"/>
                          <a:ea typeface="Calibri" panose="020F0502020204030204" pitchFamily="34" charset="0"/>
                          <a:cs typeface="Calibri" panose="020F0502020204030204" pitchFamily="34" charset="0"/>
                        </a:rPr>
                        <a:t>Colab</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l"/>
                      <a:r>
                        <a:rPr lang="en-IN" sz="2000" dirty="0">
                          <a:latin typeface="Calibri" panose="020F0502020204030204" pitchFamily="34" charset="0"/>
                          <a:ea typeface="Calibri" panose="020F0502020204030204" pitchFamily="34" charset="0"/>
                          <a:cs typeface="Calibri" panose="020F0502020204030204" pitchFamily="34" charset="0"/>
                        </a:rPr>
                        <a:t>Development environment</a:t>
                      </a:r>
                    </a:p>
                  </a:txBody>
                  <a:tcPr anchor="ctr">
                    <a:lnL>
                      <a:noFill/>
                    </a:lnL>
                    <a:lnR>
                      <a:noFill/>
                    </a:lnR>
                    <a:lnT>
                      <a:noFill/>
                    </a:lnT>
                    <a:lnB>
                      <a:noFill/>
                    </a:lnB>
                  </a:tcPr>
                </a:tc>
                <a:extLst>
                  <a:ext uri="{0D108BD9-81ED-4DB2-BD59-A6C34878D82A}">
                    <a16:rowId xmlns:a16="http://schemas.microsoft.com/office/drawing/2014/main" val="2871831195"/>
                  </a:ext>
                </a:extLst>
              </a:tr>
              <a:tr h="785496">
                <a:tc>
                  <a:txBody>
                    <a:bodyPr/>
                    <a:lstStyle/>
                    <a:p>
                      <a:pPr algn="l"/>
                      <a:r>
                        <a:rPr lang="en-IN" sz="2000" b="1" dirty="0">
                          <a:latin typeface="Calibri" panose="020F0502020204030204" pitchFamily="34" charset="0"/>
                          <a:ea typeface="Calibri" panose="020F0502020204030204" pitchFamily="34" charset="0"/>
                          <a:cs typeface="Calibri" panose="020F0502020204030204" pitchFamily="34" charset="0"/>
                        </a:rPr>
                        <a:t>Pandas</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l"/>
                      <a:r>
                        <a:rPr lang="en-IN" sz="2000" dirty="0">
                          <a:latin typeface="Calibri" panose="020F0502020204030204" pitchFamily="34" charset="0"/>
                          <a:ea typeface="Calibri" panose="020F0502020204030204" pitchFamily="34" charset="0"/>
                          <a:cs typeface="Calibri" panose="020F0502020204030204" pitchFamily="34" charset="0"/>
                        </a:rPr>
                        <a:t>Data loading, cleaning &amp; analysis</a:t>
                      </a:r>
                    </a:p>
                  </a:txBody>
                  <a:tcPr anchor="ctr">
                    <a:lnL>
                      <a:noFill/>
                    </a:lnL>
                    <a:lnR>
                      <a:noFill/>
                    </a:lnR>
                    <a:lnT>
                      <a:noFill/>
                    </a:lnT>
                    <a:lnB>
                      <a:noFill/>
                    </a:lnB>
                  </a:tcPr>
                </a:tc>
                <a:extLst>
                  <a:ext uri="{0D108BD9-81ED-4DB2-BD59-A6C34878D82A}">
                    <a16:rowId xmlns:a16="http://schemas.microsoft.com/office/drawing/2014/main" val="3489435217"/>
                  </a:ext>
                </a:extLst>
              </a:tr>
              <a:tr h="785496">
                <a:tc>
                  <a:txBody>
                    <a:bodyPr/>
                    <a:lstStyle/>
                    <a:p>
                      <a:pPr algn="l"/>
                      <a:r>
                        <a:rPr lang="en-IN" sz="2000" b="1" dirty="0" err="1">
                          <a:latin typeface="Calibri" panose="020F0502020204030204" pitchFamily="34" charset="0"/>
                          <a:ea typeface="Calibri" panose="020F0502020204030204" pitchFamily="34" charset="0"/>
                          <a:cs typeface="Calibri" panose="020F0502020204030204" pitchFamily="34" charset="0"/>
                        </a:rPr>
                        <a:t>NumPy</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l"/>
                      <a:r>
                        <a:rPr lang="en-IN" sz="2000" dirty="0">
                          <a:latin typeface="Calibri" panose="020F0502020204030204" pitchFamily="34" charset="0"/>
                          <a:ea typeface="Calibri" panose="020F0502020204030204" pitchFamily="34" charset="0"/>
                          <a:cs typeface="Calibri" panose="020F0502020204030204" pitchFamily="34" charset="0"/>
                        </a:rPr>
                        <a:t>Numerical operations</a:t>
                      </a:r>
                    </a:p>
                  </a:txBody>
                  <a:tcPr anchor="ctr">
                    <a:lnL>
                      <a:noFill/>
                    </a:lnL>
                    <a:lnR>
                      <a:noFill/>
                    </a:lnR>
                    <a:lnT>
                      <a:noFill/>
                    </a:lnT>
                    <a:lnB>
                      <a:noFill/>
                    </a:lnB>
                  </a:tcPr>
                </a:tc>
                <a:extLst>
                  <a:ext uri="{0D108BD9-81ED-4DB2-BD59-A6C34878D82A}">
                    <a16:rowId xmlns:a16="http://schemas.microsoft.com/office/drawing/2014/main" val="4278085441"/>
                  </a:ext>
                </a:extLst>
              </a:tr>
              <a:tr h="443976">
                <a:tc>
                  <a:txBody>
                    <a:bodyPr/>
                    <a:lstStyle/>
                    <a:p>
                      <a:pPr algn="l"/>
                      <a:r>
                        <a:rPr lang="en-IN" sz="2000" b="1" dirty="0" err="1">
                          <a:latin typeface="Calibri" panose="020F0502020204030204" pitchFamily="34" charset="0"/>
                          <a:ea typeface="Calibri" panose="020F0502020204030204" pitchFamily="34" charset="0"/>
                          <a:cs typeface="Calibri" panose="020F0502020204030204" pitchFamily="34" charset="0"/>
                        </a:rPr>
                        <a:t>Matplotlib</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l"/>
                      <a:r>
                        <a:rPr lang="en-IN" sz="2000" dirty="0">
                          <a:latin typeface="Calibri" panose="020F0502020204030204" pitchFamily="34" charset="0"/>
                          <a:ea typeface="Calibri" panose="020F0502020204030204" pitchFamily="34" charset="0"/>
                          <a:cs typeface="Calibri" panose="020F0502020204030204" pitchFamily="34" charset="0"/>
                        </a:rPr>
                        <a:t>Data visualization</a:t>
                      </a:r>
                    </a:p>
                  </a:txBody>
                  <a:tcPr anchor="ctr">
                    <a:lnL>
                      <a:noFill/>
                    </a:lnL>
                    <a:lnR>
                      <a:noFill/>
                    </a:lnR>
                    <a:lnT>
                      <a:noFill/>
                    </a:lnT>
                    <a:lnB>
                      <a:noFill/>
                    </a:lnB>
                  </a:tcPr>
                </a:tc>
                <a:extLst>
                  <a:ext uri="{0D108BD9-81ED-4DB2-BD59-A6C34878D82A}">
                    <a16:rowId xmlns:a16="http://schemas.microsoft.com/office/drawing/2014/main" val="3466762891"/>
                  </a:ext>
                </a:extLst>
              </a:tr>
              <a:tr h="785496">
                <a:tc>
                  <a:txBody>
                    <a:bodyPr/>
                    <a:lstStyle/>
                    <a:p>
                      <a:pPr algn="l"/>
                      <a:r>
                        <a:rPr lang="en-IN" sz="2000" b="1" dirty="0" err="1">
                          <a:latin typeface="Calibri" panose="020F0502020204030204" pitchFamily="34" charset="0"/>
                          <a:ea typeface="Calibri" panose="020F0502020204030204" pitchFamily="34" charset="0"/>
                          <a:cs typeface="Calibri" panose="020F0502020204030204" pitchFamily="34" charset="0"/>
                        </a:rPr>
                        <a:t>Seaborn</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l"/>
                      <a:r>
                        <a:rPr lang="en-IN" sz="2000" dirty="0">
                          <a:latin typeface="Calibri" panose="020F0502020204030204" pitchFamily="34" charset="0"/>
                          <a:ea typeface="Calibri" panose="020F0502020204030204" pitchFamily="34" charset="0"/>
                          <a:cs typeface="Calibri" panose="020F0502020204030204" pitchFamily="34" charset="0"/>
                        </a:rPr>
                        <a:t>Statistical visualization</a:t>
                      </a:r>
                    </a:p>
                  </a:txBody>
                  <a:tcPr anchor="ctr">
                    <a:lnL>
                      <a:noFill/>
                    </a:lnL>
                    <a:lnR>
                      <a:noFill/>
                    </a:lnR>
                    <a:lnT>
                      <a:noFill/>
                    </a:lnT>
                    <a:lnB>
                      <a:noFill/>
                    </a:lnB>
                  </a:tcPr>
                </a:tc>
                <a:extLst>
                  <a:ext uri="{0D108BD9-81ED-4DB2-BD59-A6C34878D82A}">
                    <a16:rowId xmlns:a16="http://schemas.microsoft.com/office/drawing/2014/main" val="1803575811"/>
                  </a:ext>
                </a:extLst>
              </a:tr>
            </a:tbl>
          </a:graphicData>
        </a:graphic>
      </p:graphicFrame>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9279" y="1866893"/>
            <a:ext cx="6032198" cy="4691613"/>
          </a:xfrm>
          <a:prstGeom prst="rect">
            <a:avLst/>
          </a:prstGeom>
        </p:spPr>
      </p:pic>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3769" y="-154219"/>
            <a:ext cx="1506789" cy="742048"/>
          </a:xfrm>
        </p:spPr>
        <p:txBody>
          <a:bodyPr>
            <a:normAutofit fontScale="90000"/>
          </a:bodyPr>
          <a:lstStyle/>
          <a:p>
            <a:r>
              <a:rPr lang="en-GB" sz="25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2" name="Rectangle 1"/>
          <p:cNvSpPr>
            <a:spLocks noChangeArrowheads="1"/>
          </p:cNvSpPr>
          <p:nvPr/>
        </p:nvSpPr>
        <p:spPr bwMode="auto">
          <a:xfrm>
            <a:off x="90203" y="587829"/>
            <a:ext cx="5861957"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1. Income Box Plot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box plot is used to understand the distribution of patient income. It helps identify the minimum income, maximum income, median income, and any outliers. Most patients fall within a specific income range, while a few patients have significantly higher or lower incomes. </a:t>
            </a:r>
          </a:p>
        </p:txBody>
      </p:sp>
      <p:pic>
        <p:nvPicPr>
          <p:cNvPr id="11" name="Picture 10" descr="C:\Users\user\Pictures\New folder\download.png"/>
          <p:cNvPicPr/>
          <p:nvPr/>
        </p:nvPicPr>
        <p:blipFill>
          <a:blip r:embed="rId4">
            <a:extLst>
              <a:ext uri="{28A0092B-C50C-407E-A947-70E740481C1C}">
                <a14:useLocalDpi xmlns:a14="http://schemas.microsoft.com/office/drawing/2010/main" val="0"/>
              </a:ext>
            </a:extLst>
          </a:blip>
          <a:srcRect/>
          <a:stretch>
            <a:fillRect/>
          </a:stretch>
        </p:blipFill>
        <p:spPr bwMode="auto">
          <a:xfrm>
            <a:off x="319722" y="2628991"/>
            <a:ext cx="4998720" cy="3337560"/>
          </a:xfrm>
          <a:prstGeom prst="rect">
            <a:avLst/>
          </a:prstGeom>
          <a:noFill/>
          <a:ln>
            <a:noFill/>
          </a:ln>
        </p:spPr>
      </p:pic>
      <p:sp>
        <p:nvSpPr>
          <p:cNvPr id="6" name="Rectangle 2"/>
          <p:cNvSpPr>
            <a:spLocks noChangeArrowheads="1"/>
          </p:cNvSpPr>
          <p:nvPr/>
        </p:nvSpPr>
        <p:spPr bwMode="auto">
          <a:xfrm>
            <a:off x="6248253" y="726328"/>
            <a:ext cx="6009061" cy="143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2. Missing Values </a:t>
            </a:r>
            <a:r>
              <a:rPr kumimoji="0" lang="en-US" altLang="en-US" sz="1500" b="1" i="0" u="none" strike="noStrike" cap="none" normalizeH="0" baseline="0" dirty="0" err="1" smtClean="0">
                <a:ln>
                  <a:noFill/>
                </a:ln>
                <a:solidFill>
                  <a:schemeClr val="tx1"/>
                </a:solidFill>
                <a:effectLst/>
                <a:latin typeface="Arial" panose="020B0604020202020204" pitchFamily="34" charset="0"/>
              </a:rPr>
              <a:t>Heatmap</a:t>
            </a:r>
            <a:endParaRPr kumimoji="0" lang="en-US" altLang="en-US" sz="15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a:t>
            </a:r>
            <a:r>
              <a:rPr kumimoji="0" lang="en-US" altLang="en-US" sz="1800" b="0" i="0" u="none" strike="noStrike" cap="none" normalizeH="0" baseline="0" dirty="0" err="1" smtClean="0">
                <a:ln>
                  <a:noFill/>
                </a:ln>
                <a:solidFill>
                  <a:schemeClr val="tx1"/>
                </a:solidFill>
                <a:effectLst/>
                <a:latin typeface="Arial" panose="020B0604020202020204" pitchFamily="34" charset="0"/>
              </a:rPr>
              <a:t>heatmap</a:t>
            </a:r>
            <a:r>
              <a:rPr kumimoji="0" lang="en-US" altLang="en-US" sz="1800" b="0" i="0" u="none" strike="noStrike" cap="none" normalizeH="0" baseline="0" dirty="0" smtClean="0">
                <a:ln>
                  <a:noFill/>
                </a:ln>
                <a:solidFill>
                  <a:schemeClr val="tx1"/>
                </a:solidFill>
                <a:effectLst/>
                <a:latin typeface="Arial" panose="020B0604020202020204" pitchFamily="34" charset="0"/>
              </a:rPr>
              <a:t> helps check whether the dataset contains missing values. Since there are very few or no highlighted gaps, the dataset is clean and suitable for analysis. </a:t>
            </a:r>
          </a:p>
        </p:txBody>
      </p:sp>
      <p:pic>
        <p:nvPicPr>
          <p:cNvPr id="13" name="Picture 12" descr="C:\Users\user\Pictures\New folder\download (1).png"/>
          <p:cNvPicPr/>
          <p:nvPr/>
        </p:nvPicPr>
        <p:blipFill>
          <a:blip r:embed="rId5">
            <a:extLst>
              <a:ext uri="{28A0092B-C50C-407E-A947-70E740481C1C}">
                <a14:useLocalDpi xmlns:a14="http://schemas.microsoft.com/office/drawing/2010/main" val="0"/>
              </a:ext>
            </a:extLst>
          </a:blip>
          <a:srcRect/>
          <a:stretch>
            <a:fillRect/>
          </a:stretch>
        </p:blipFill>
        <p:spPr bwMode="auto">
          <a:xfrm>
            <a:off x="6182939" y="2628991"/>
            <a:ext cx="5120640" cy="3276600"/>
          </a:xfrm>
          <a:prstGeom prst="rect">
            <a:avLst/>
          </a:prstGeom>
          <a:noFill/>
          <a:ln>
            <a:noFill/>
          </a:ln>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3769" y="-154219"/>
            <a:ext cx="1506789" cy="742048"/>
          </a:xfrm>
        </p:spPr>
        <p:txBody>
          <a:bodyPr>
            <a:normAutofit fontScale="90000"/>
          </a:bodyPr>
          <a:lstStyle/>
          <a:p>
            <a:r>
              <a:rPr lang="en-GB" sz="25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3" name="Rectangle 1"/>
          <p:cNvSpPr>
            <a:spLocks noChangeArrowheads="1"/>
          </p:cNvSpPr>
          <p:nvPr/>
        </p:nvSpPr>
        <p:spPr bwMode="auto">
          <a:xfrm>
            <a:off x="152253" y="609303"/>
            <a:ext cx="6030686"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3. Correlation </a:t>
            </a:r>
            <a:r>
              <a:rPr kumimoji="0" lang="en-US" altLang="en-US" sz="1500" b="1" i="0" u="none" strike="noStrike" cap="none" normalizeH="0" baseline="0" dirty="0" err="1" smtClean="0">
                <a:ln>
                  <a:noFill/>
                </a:ln>
                <a:solidFill>
                  <a:schemeClr val="tx1"/>
                </a:solidFill>
                <a:effectLst/>
                <a:latin typeface="Arial" panose="020B0604020202020204" pitchFamily="34" charset="0"/>
              </a:rPr>
              <a:t>Heatmap</a:t>
            </a:r>
            <a:endParaRPr kumimoji="0" lang="en-US" altLang="en-US" sz="15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chart shows the relationship between different variables. Darker colors indicate stronger relationships, while lighter colors indicate weaker relationships. It helps identify which factors are most closely related to doctor visits</a:t>
            </a:r>
          </a:p>
        </p:txBody>
      </p:sp>
      <p:sp>
        <p:nvSpPr>
          <p:cNvPr id="10" name="Rectangle 2"/>
          <p:cNvSpPr>
            <a:spLocks noChangeArrowheads="1"/>
          </p:cNvSpPr>
          <p:nvPr/>
        </p:nvSpPr>
        <p:spPr bwMode="auto">
          <a:xfrm>
            <a:off x="6351667" y="763191"/>
            <a:ext cx="5453889" cy="143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4. Income vs Doctor Visits Scatter Plot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scatter plot analyzes whether patient income affects the number of doctor visits. Each point represents a patient. The chart helps identify trends between income levels and healthcare utilization.</a:t>
            </a:r>
          </a:p>
        </p:txBody>
      </p:sp>
      <p:pic>
        <p:nvPicPr>
          <p:cNvPr id="14" name="Picture 13" descr="C:\Users\user\Pictures\New folder\download (2).png"/>
          <p:cNvPicPr/>
          <p:nvPr/>
        </p:nvPicPr>
        <p:blipFill>
          <a:blip r:embed="rId4">
            <a:extLst>
              <a:ext uri="{28A0092B-C50C-407E-A947-70E740481C1C}">
                <a14:useLocalDpi xmlns:a14="http://schemas.microsoft.com/office/drawing/2010/main" val="0"/>
              </a:ext>
            </a:extLst>
          </a:blip>
          <a:srcRect/>
          <a:stretch>
            <a:fillRect/>
          </a:stretch>
        </p:blipFill>
        <p:spPr bwMode="auto">
          <a:xfrm>
            <a:off x="282564" y="2607517"/>
            <a:ext cx="5730875" cy="3318383"/>
          </a:xfrm>
          <a:prstGeom prst="rect">
            <a:avLst/>
          </a:prstGeom>
          <a:noFill/>
          <a:ln>
            <a:noFill/>
          </a:ln>
        </p:spPr>
      </p:pic>
      <p:pic>
        <p:nvPicPr>
          <p:cNvPr id="15" name="Picture 14" descr="C:\Users\user\Pictures\New folder\download (3).png"/>
          <p:cNvPicPr/>
          <p:nvPr/>
        </p:nvPicPr>
        <p:blipFill>
          <a:blip r:embed="rId5">
            <a:extLst>
              <a:ext uri="{28A0092B-C50C-407E-A947-70E740481C1C}">
                <a14:useLocalDpi xmlns:a14="http://schemas.microsoft.com/office/drawing/2010/main" val="0"/>
              </a:ext>
            </a:extLst>
          </a:blip>
          <a:srcRect/>
          <a:stretch>
            <a:fillRect/>
          </a:stretch>
        </p:blipFill>
        <p:spPr bwMode="auto">
          <a:xfrm>
            <a:off x="6182939" y="2527380"/>
            <a:ext cx="5731510" cy="3398520"/>
          </a:xfrm>
          <a:prstGeom prst="rect">
            <a:avLst/>
          </a:prstGeom>
          <a:noFill/>
          <a:ln>
            <a:noFill/>
          </a:ln>
        </p:spPr>
      </p:pic>
    </p:spTree>
    <p:extLst>
      <p:ext uri="{BB962C8B-B14F-4D97-AF65-F5344CB8AC3E}">
        <p14:creationId xmlns:p14="http://schemas.microsoft.com/office/powerpoint/2010/main" val="168873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3769" y="-154219"/>
            <a:ext cx="1506789" cy="742048"/>
          </a:xfrm>
        </p:spPr>
        <p:txBody>
          <a:bodyPr>
            <a:normAutofit fontScale="90000"/>
          </a:bodyPr>
          <a:lstStyle/>
          <a:p>
            <a:r>
              <a:rPr lang="en-GB" sz="25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3" name="Rectangle 1"/>
          <p:cNvSpPr>
            <a:spLocks noChangeArrowheads="1"/>
          </p:cNvSpPr>
          <p:nvPr/>
        </p:nvSpPr>
        <p:spPr bwMode="auto">
          <a:xfrm>
            <a:off x="163931" y="979213"/>
            <a:ext cx="5844983"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5. Male vs Female Affected by Illness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visualization compares the number of male and female patients affected by illness. It helps understand the distribution of illness across genders. </a:t>
            </a:r>
          </a:p>
        </p:txBody>
      </p:sp>
      <p:sp>
        <p:nvSpPr>
          <p:cNvPr id="10" name="Rectangle 2"/>
          <p:cNvSpPr>
            <a:spLocks noChangeArrowheads="1"/>
          </p:cNvSpPr>
          <p:nvPr/>
        </p:nvSpPr>
        <p:spPr bwMode="auto">
          <a:xfrm>
            <a:off x="6129170" y="754330"/>
            <a:ext cx="5741848"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6. Government Insurance Due to Low Income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pie chart shows the percentage of people receiving government health insurance because of low income. It helps understand how many patients depend on financial assistance for healthcare coverage. </a:t>
            </a:r>
          </a:p>
        </p:txBody>
      </p:sp>
      <p:pic>
        <p:nvPicPr>
          <p:cNvPr id="14" name="Picture 13" descr="C:\Users\user\Pictures\New folder\download (4).png"/>
          <p:cNvPicPr/>
          <p:nvPr/>
        </p:nvPicPr>
        <p:blipFill>
          <a:blip r:embed="rId4">
            <a:extLst>
              <a:ext uri="{28A0092B-C50C-407E-A947-70E740481C1C}">
                <a14:useLocalDpi xmlns:a14="http://schemas.microsoft.com/office/drawing/2010/main" val="0"/>
              </a:ext>
            </a:extLst>
          </a:blip>
          <a:srcRect/>
          <a:stretch>
            <a:fillRect/>
          </a:stretch>
        </p:blipFill>
        <p:spPr bwMode="auto">
          <a:xfrm>
            <a:off x="53769" y="2524760"/>
            <a:ext cx="5303520" cy="3947160"/>
          </a:xfrm>
          <a:prstGeom prst="rect">
            <a:avLst/>
          </a:prstGeom>
          <a:noFill/>
          <a:ln>
            <a:noFill/>
          </a:ln>
        </p:spPr>
      </p:pic>
      <p:pic>
        <p:nvPicPr>
          <p:cNvPr id="15" name="Picture 14" descr="C:\Users\user\Pictures\New folder\download (5).png"/>
          <p:cNvPicPr/>
          <p:nvPr/>
        </p:nvPicPr>
        <p:blipFill>
          <a:blip r:embed="rId5">
            <a:extLst>
              <a:ext uri="{28A0092B-C50C-407E-A947-70E740481C1C}">
                <a14:useLocalDpi xmlns:a14="http://schemas.microsoft.com/office/drawing/2010/main" val="0"/>
              </a:ext>
            </a:extLst>
          </a:blip>
          <a:srcRect/>
          <a:stretch>
            <a:fillRect/>
          </a:stretch>
        </p:blipFill>
        <p:spPr bwMode="auto">
          <a:xfrm>
            <a:off x="6008914" y="2654416"/>
            <a:ext cx="4907280" cy="3817504"/>
          </a:xfrm>
          <a:prstGeom prst="rect">
            <a:avLst/>
          </a:prstGeom>
          <a:noFill/>
          <a:ln>
            <a:noFill/>
          </a:ln>
        </p:spPr>
      </p:pic>
    </p:spTree>
    <p:extLst>
      <p:ext uri="{BB962C8B-B14F-4D97-AF65-F5344CB8AC3E}">
        <p14:creationId xmlns:p14="http://schemas.microsoft.com/office/powerpoint/2010/main" val="3574894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3769" y="-154219"/>
            <a:ext cx="1506789" cy="742048"/>
          </a:xfrm>
        </p:spPr>
        <p:txBody>
          <a:bodyPr>
            <a:normAutofit fontScale="90000"/>
          </a:bodyPr>
          <a:lstStyle/>
          <a:p>
            <a:r>
              <a:rPr lang="en-GB" sz="25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3" name="Rectangle 1"/>
          <p:cNvSpPr>
            <a:spLocks noChangeArrowheads="1"/>
          </p:cNvSpPr>
          <p:nvPr/>
        </p:nvSpPr>
        <p:spPr bwMode="auto">
          <a:xfrm>
            <a:off x="320982" y="687561"/>
            <a:ext cx="5638947" cy="143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7. Private Health Insurance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chart shows the proportion of patients who have private health insurance versus those who do not. It provides insights into healthcare coverage among patients.</a:t>
            </a:r>
          </a:p>
        </p:txBody>
      </p:sp>
      <p:sp>
        <p:nvSpPr>
          <p:cNvPr id="10" name="Rectangle 2"/>
          <p:cNvSpPr>
            <a:spLocks noChangeArrowheads="1"/>
          </p:cNvSpPr>
          <p:nvPr/>
        </p:nvSpPr>
        <p:spPr bwMode="auto">
          <a:xfrm>
            <a:off x="6417127" y="741717"/>
            <a:ext cx="5568043" cy="143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8. Government Insurance Due to Old Age/Disability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pie chart represents the percentage of people receiving government insurance because of old age, disability, or veteran status. It highlights support provided to vulnerable groups.</a:t>
            </a:r>
          </a:p>
        </p:txBody>
      </p:sp>
      <p:pic>
        <p:nvPicPr>
          <p:cNvPr id="14" name="Picture 13" descr="C:\Users\user\Pictures\New folder\download (6).png"/>
          <p:cNvPicPr/>
          <p:nvPr/>
        </p:nvPicPr>
        <p:blipFill>
          <a:blip r:embed="rId4">
            <a:extLst>
              <a:ext uri="{28A0092B-C50C-407E-A947-70E740481C1C}">
                <a14:useLocalDpi xmlns:a14="http://schemas.microsoft.com/office/drawing/2010/main" val="0"/>
              </a:ext>
            </a:extLst>
          </a:blip>
          <a:srcRect/>
          <a:stretch>
            <a:fillRect/>
          </a:stretch>
        </p:blipFill>
        <p:spPr bwMode="auto">
          <a:xfrm>
            <a:off x="422959" y="2529258"/>
            <a:ext cx="5145084" cy="3642941"/>
          </a:xfrm>
          <a:prstGeom prst="rect">
            <a:avLst/>
          </a:prstGeom>
          <a:noFill/>
          <a:ln>
            <a:noFill/>
          </a:ln>
        </p:spPr>
      </p:pic>
      <p:pic>
        <p:nvPicPr>
          <p:cNvPr id="15" name="Picture 14" descr="C:\Users\user\Pictures\New folder\download (7).png"/>
          <p:cNvPicPr/>
          <p:nvPr/>
        </p:nvPicPr>
        <p:blipFill>
          <a:blip r:embed="rId5">
            <a:extLst>
              <a:ext uri="{28A0092B-C50C-407E-A947-70E740481C1C}">
                <a14:useLocalDpi xmlns:a14="http://schemas.microsoft.com/office/drawing/2010/main" val="0"/>
              </a:ext>
            </a:extLst>
          </a:blip>
          <a:srcRect/>
          <a:stretch>
            <a:fillRect/>
          </a:stretch>
        </p:blipFill>
        <p:spPr bwMode="auto">
          <a:xfrm>
            <a:off x="6417127" y="2475103"/>
            <a:ext cx="5372102" cy="3697096"/>
          </a:xfrm>
          <a:prstGeom prst="rect">
            <a:avLst/>
          </a:prstGeom>
          <a:noFill/>
          <a:ln>
            <a:noFill/>
          </a:ln>
        </p:spPr>
      </p:pic>
    </p:spTree>
    <p:extLst>
      <p:ext uri="{BB962C8B-B14F-4D97-AF65-F5344CB8AC3E}">
        <p14:creationId xmlns:p14="http://schemas.microsoft.com/office/powerpoint/2010/main" val="253804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3769" y="-154219"/>
            <a:ext cx="1506789" cy="742048"/>
          </a:xfrm>
        </p:spPr>
        <p:txBody>
          <a:bodyPr>
            <a:normAutofit fontScale="90000"/>
          </a:bodyPr>
          <a:lstStyle/>
          <a:p>
            <a:r>
              <a:rPr lang="en-GB" sz="25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2" name="Rectangle 1"/>
          <p:cNvSpPr>
            <a:spLocks noChangeArrowheads="1"/>
          </p:cNvSpPr>
          <p:nvPr/>
        </p:nvSpPr>
        <p:spPr bwMode="auto">
          <a:xfrm>
            <a:off x="320982" y="771898"/>
            <a:ext cx="9051618"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anose="020B0604020202020204" pitchFamily="34" charset="0"/>
              </a:rPr>
              <a:t>9. Reduced Activity Days by Gender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horizontal bar chart compares the total number of reduced activity days due to illness for males and females. It helps identify which gender experiences a greater impact from illness on daily activities. </a:t>
            </a:r>
          </a:p>
        </p:txBody>
      </p:sp>
      <p:pic>
        <p:nvPicPr>
          <p:cNvPr id="12" name="Picture 11" descr="C:\Users\user\Pictures\New folder\download (8).png"/>
          <p:cNvPicPr/>
          <p:nvPr/>
        </p:nvPicPr>
        <p:blipFill>
          <a:blip r:embed="rId4">
            <a:extLst>
              <a:ext uri="{28A0092B-C50C-407E-A947-70E740481C1C}">
                <a14:useLocalDpi xmlns:a14="http://schemas.microsoft.com/office/drawing/2010/main" val="0"/>
              </a:ext>
            </a:extLst>
          </a:blip>
          <a:srcRect/>
          <a:stretch>
            <a:fillRect/>
          </a:stretch>
        </p:blipFill>
        <p:spPr bwMode="auto">
          <a:xfrm>
            <a:off x="320982" y="1992421"/>
            <a:ext cx="8594418" cy="4160520"/>
          </a:xfrm>
          <a:prstGeom prst="rect">
            <a:avLst/>
          </a:prstGeom>
          <a:noFill/>
          <a:ln>
            <a:noFill/>
          </a:ln>
        </p:spPr>
      </p:pic>
    </p:spTree>
    <p:extLst>
      <p:ext uri="{BB962C8B-B14F-4D97-AF65-F5344CB8AC3E}">
        <p14:creationId xmlns:p14="http://schemas.microsoft.com/office/powerpoint/2010/main" val="126131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2072731"/>
            <a:ext cx="11340000" cy="700114"/>
          </a:xfrm>
          <a:prstGeom prst="rect">
            <a:avLst/>
          </a:prstGeom>
        </p:spPr>
        <p:txBody>
          <a:bodyPr anchor="ctr">
            <a:normAutofit fontScale="90000"/>
          </a:bodyPr>
          <a:lstStyle/>
          <a:p>
            <a:pPr algn="ctr"/>
            <a:r>
              <a:rPr lang="en-US" sz="4800" b="1" dirty="0" smtClean="0">
                <a:solidFill>
                  <a:schemeClr val="tx1"/>
                </a:solidFill>
              </a:rPr>
              <a:t>Thank you</a:t>
            </a:r>
            <a:endParaRPr lang="en-US" sz="4800" b="1" dirty="0">
              <a:solidFill>
                <a:schemeClr val="tx1"/>
              </a:solidFill>
            </a:endParaRP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933864" y="3905876"/>
            <a:ext cx="5793430" cy="1082956"/>
          </a:xfrm>
        </p:spPr>
        <p:txBody>
          <a:bodyPr>
            <a:normAutofit/>
          </a:bodyPr>
          <a:lstStyle/>
          <a:p>
            <a:r>
              <a:rPr lang="en-IN" dirty="0"/>
              <a:t>GitHub Project Repository :</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1029</TotalTime>
  <Words>921</Words>
  <Application>Microsoft Office PowerPoint</Application>
  <PresentationFormat>Widescreen</PresentationFormat>
  <Paragraphs>87</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Trebuchet MS</vt:lpstr>
      <vt:lpstr>Wingdings</vt:lpstr>
      <vt:lpstr>Wingdings 3</vt:lpstr>
      <vt:lpstr>Facet</vt:lpstr>
      <vt:lpstr>Project Title – Healthcare Analytics For Doctor Visit TIRTC</vt:lpstr>
      <vt:lpstr>PROBLEM  STATEMENT</vt:lpstr>
      <vt:lpstr>Project Description</vt:lpstr>
      <vt:lpstr>WHO ARE THE END USERS?</vt:lpstr>
      <vt:lpstr>Technology Used</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84</cp:revision>
  <dcterms:created xsi:type="dcterms:W3CDTF">2021-07-11T13:13:15Z</dcterms:created>
  <dcterms:modified xsi:type="dcterms:W3CDTF">2026-09-29T18:10:33Z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